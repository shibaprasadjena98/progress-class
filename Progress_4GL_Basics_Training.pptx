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Progress 4GL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Variables and Datatypes</a:t>
            </a:r>
          </a:p>
          <a:p>
            <a:r>
              <a:rPr dirty="0"/>
              <a:t>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Background: 3GL vs 4GL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Progress 4GL is a fourth-generation language (4GL).</a:t>
            </a:r>
          </a:p>
          <a:p>
            <a:r>
              <a:t>Designed to simplify business application development.</a:t>
            </a:r>
          </a:p>
          <a:p>
            <a:r>
              <a:t>3GLs require more explicit coding and control flow.</a:t>
            </a:r>
          </a:p>
          <a:p>
            <a:r>
              <a:t>Examples of 3GLs: C, Java, Python, COBOL, Pascal.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Progress 4GL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by Progress Software Corporation in 1983.</a:t>
            </a:r>
          </a:p>
          <a:p>
            <a:r>
              <a:t>Designed for enterprise application development.</a:t>
            </a:r>
          </a:p>
          <a:p>
            <a:r>
              <a:t>Later renamed OpenEdge ABL.</a:t>
            </a:r>
          </a:p>
          <a:p>
            <a:r>
              <a:t>Strengths: rapid development, integrated DB access, business logic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Display Message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MESSAGE "Starting Progress 4GL variable and datatype basics" VIEW-AS ALERT-BOX.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VARIABLE i AS INTEGER NO-UNDO.</a:t>
            </a:r>
          </a:p>
          <a:p>
            <a:r>
              <a:t>DEFINE VARIABLE cName AS CHARACTER NO-UNDO.</a:t>
            </a:r>
          </a:p>
          <a:p>
            <a:r>
              <a:t>DEFINE VARIABLE dAmount AS DECIMAL NO-UNDO.</a:t>
            </a:r>
          </a:p>
          <a:p>
            <a:r>
              <a:t>DEFINE VARIABLE lActive AS LOGICAL NO-UNDO.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Data Types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5836D5-8A86-1F5D-5DBF-9D72FBA18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92025"/>
              </p:ext>
            </p:extLst>
          </p:nvPr>
        </p:nvGraphicFramePr>
        <p:xfrm>
          <a:off x="540774" y="1337187"/>
          <a:ext cx="8146024" cy="5371985"/>
        </p:xfrm>
        <a:graphic>
          <a:graphicData uri="http://schemas.openxmlformats.org/drawingml/2006/table">
            <a:tbl>
              <a:tblPr/>
              <a:tblGrid>
                <a:gridCol w="4073012">
                  <a:extLst>
                    <a:ext uri="{9D8B030D-6E8A-4147-A177-3AD203B41FA5}">
                      <a16:colId xmlns:a16="http://schemas.microsoft.com/office/drawing/2014/main" val="3442658089"/>
                    </a:ext>
                  </a:extLst>
                </a:gridCol>
                <a:gridCol w="4073012">
                  <a:extLst>
                    <a:ext uri="{9D8B030D-6E8A-4147-A177-3AD203B41FA5}">
                      <a16:colId xmlns:a16="http://schemas.microsoft.com/office/drawing/2014/main" val="2063488267"/>
                    </a:ext>
                  </a:extLst>
                </a:gridCol>
              </a:tblGrid>
              <a:tr h="260567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Data type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Description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661356"/>
                  </a:ext>
                </a:extLst>
              </a:tr>
              <a:tr h="732551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CHARACTER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Specifies data (letters, numbers, and special characters) as a character string. It can store up to 32,000 characters.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564414"/>
                  </a:ext>
                </a:extLst>
              </a:tr>
              <a:tr h="260567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DATE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Specifies a date value.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887918"/>
                  </a:ext>
                </a:extLst>
              </a:tr>
              <a:tr h="260567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DATETIME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Specifies a date and time value.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87017"/>
                  </a:ext>
                </a:extLst>
              </a:tr>
              <a:tr h="393857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DATETIME-TZ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Specifies a date, time and timezone value.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000451"/>
                  </a:ext>
                </a:extLst>
              </a:tr>
              <a:tr h="901898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DECIMAL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Specifies a decimal number. It can store a number up to 50 significant digits including 10 digits to the right of the decimal point.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855955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HANDLE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Specifies a pointer to an object in memory such as a procedure.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272026"/>
                  </a:ext>
                </a:extLst>
              </a:tr>
              <a:tr h="393857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INTEGER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Specifies a positive or negative whole number.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140928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INT64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Specifies a 64 bit positive or negative whole number.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568162"/>
                  </a:ext>
                </a:extLst>
              </a:tr>
              <a:tr h="563204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LOGICAL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Specifies a Boolean value that evaluates to YES/NO or TRUE/FALSE.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553460"/>
                  </a:ext>
                </a:extLst>
              </a:tr>
              <a:tr h="563204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ROWID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Specifies a unique identifier for a record. It stores a hexadecimal that points to its location on disk.</a:t>
                      </a:r>
                    </a:p>
                  </a:txBody>
                  <a:tcPr marL="37232" marR="37232" marT="37232" marB="37232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7963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Default Initial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CHARACTER → empty string</a:t>
            </a:r>
            <a:r>
              <a:rPr lang="en-IN" dirty="0"/>
              <a:t> “”</a:t>
            </a:r>
            <a:endParaRPr dirty="0"/>
          </a:p>
          <a:p>
            <a:r>
              <a:rPr dirty="0"/>
              <a:t>INTEGER / INT64 → 0</a:t>
            </a:r>
          </a:p>
          <a:p>
            <a:r>
              <a:rPr dirty="0"/>
              <a:t>DECIMAL → 0.00</a:t>
            </a:r>
          </a:p>
          <a:p>
            <a:r>
              <a:rPr dirty="0"/>
              <a:t>LOGICAL → FALSE</a:t>
            </a:r>
          </a:p>
          <a:p>
            <a:r>
              <a:rPr dirty="0"/>
              <a:t>DATE / DATETIME → default blank/date</a:t>
            </a:r>
          </a:p>
          <a:p>
            <a:r>
              <a:rPr dirty="0"/>
              <a:t>HANDLE / CLASS / BLOB → undefined (?)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Default Display Formats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1A84E8-CF99-CC2B-8330-EAD9857A7D0C}"/>
              </a:ext>
            </a:extLst>
          </p:cNvPr>
          <p:cNvGraphicFramePr>
            <a:graphicFrameLocks noGrp="1"/>
          </p:cNvGraphicFramePr>
          <p:nvPr/>
        </p:nvGraphicFramePr>
        <p:xfrm>
          <a:off x="1330261" y="2053431"/>
          <a:ext cx="6483478" cy="3619500"/>
        </p:xfrm>
        <a:graphic>
          <a:graphicData uri="http://schemas.openxmlformats.org/drawingml/2006/table">
            <a:tbl>
              <a:tblPr/>
              <a:tblGrid>
                <a:gridCol w="3241739">
                  <a:extLst>
                    <a:ext uri="{9D8B030D-6E8A-4147-A177-3AD203B41FA5}">
                      <a16:colId xmlns:a16="http://schemas.microsoft.com/office/drawing/2014/main" val="3118480598"/>
                    </a:ext>
                  </a:extLst>
                </a:gridCol>
                <a:gridCol w="3241739">
                  <a:extLst>
                    <a:ext uri="{9D8B030D-6E8A-4147-A177-3AD203B41FA5}">
                      <a16:colId xmlns:a16="http://schemas.microsoft.com/office/drawing/2014/main" val="9671152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>
                          <a:effectLst/>
                        </a:rPr>
                        <a:t>Data type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>
                          <a:effectLst/>
                        </a:rPr>
                        <a:t>Default display format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349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</a:rPr>
                        <a:t>CHARACTER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</a:rPr>
                        <a:t>X(8)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849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</a:rPr>
                        <a:t>INTEGER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</a:rPr>
                        <a:t>-&gt;,&gt;&gt;&gt;,&gt;&gt;9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243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</a:rPr>
                        <a:t>DECIMAL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</a:rPr>
                        <a:t>-&gt;&gt;&gt;,&gt;&gt;9.99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445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</a:rPr>
                        <a:t>LOGICAL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</a:rPr>
                        <a:t>yes/no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61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</a:rPr>
                        <a:t>DATE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</a:rPr>
                        <a:t>99/99/99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410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</a:rPr>
                        <a:t>DATETIME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</a:rPr>
                        <a:t>99/99/99 hh:mm:ss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447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</a:rPr>
                        <a:t>DATETIME-TZ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</a:rPr>
                        <a:t>99/99/99 hh:mm:ss -TZ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956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</a:rPr>
                        <a:t>ROWID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</a:rPr>
                        <a:t>&gt;&gt;&gt;&gt;&gt;&gt;9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484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</a:rPr>
                        <a:t>HANDLE</a:t>
                      </a:r>
                      <a:endParaRPr lang="en-IN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800"/>
                        </a:lnSpc>
                        <a:buNone/>
                      </a:pPr>
                      <a:r>
                        <a:rPr lang="en-IN" dirty="0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</a:rPr>
                        <a:t>&gt;&gt;&gt;&gt;&gt;&gt;9</a:t>
                      </a:r>
                      <a:endParaRPr lang="en-IN" dirty="0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49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Datatype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VARIABLE hFile AS HANDLE NO-UNDO.</a:t>
            </a:r>
          </a:p>
          <a:p>
            <a:r>
              <a:t>DEFINE VARIABLE dtz AS DATETIME-TZ NO-UNDO.</a:t>
            </a:r>
          </a:p>
          <a:p>
            <a:r>
              <a:t>DEFINE VARIABLE i64 AS INT64 NO-UNDO.</a:t>
            </a:r>
          </a:p>
          <a:p>
            <a:r>
              <a:t>MESSAGE "Default values and types defined." VIEW-AS ALERT-BOX.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DEFINE VARIABLE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NO-UNDO – prevents rollback tracking</a:t>
            </a:r>
          </a:p>
          <a:p>
            <a:r>
              <a:t>LIKE – inherit type from another variable</a:t>
            </a:r>
          </a:p>
          <a:p>
            <a:r>
              <a:t>INITIAL – assign default value</a:t>
            </a:r>
          </a:p>
          <a:p>
            <a:r>
              <a:t>FORMAT – control output display</a:t>
            </a:r>
          </a:p>
          <a:p>
            <a:r>
              <a:t>LABEL – user friendly name</a:t>
            </a:r>
          </a:p>
          <a:p>
            <a:r>
              <a:t>EXTENT – fixed-size array</a:t>
            </a:r>
          </a:p>
          <a:p>
            <a:r>
              <a:t>SHARED – share across procedures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and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variables – current procedure</a:t>
            </a:r>
          </a:p>
          <a:p>
            <a:r>
              <a:t>Parameters – procedure signatures</a:t>
            </a:r>
          </a:p>
          <a:p>
            <a:r>
              <a:t>Shared variables – accessible across procedures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with Multiple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VARIABLE cFirstName AS CHARACTER NO-UNDO LABEL "First Name".</a:t>
            </a:r>
          </a:p>
          <a:p>
            <a:r>
              <a:t>DEFINE VARIABLE nQty AS INTEGER NO-UNDO INITIAL 1.</a:t>
            </a:r>
          </a:p>
          <a:p>
            <a:r>
              <a:t>DEFINE VARIABLE dPrice AS DECIMAL NO-UNDO FORMAT "&gt;,&gt;9.99".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Prefer NO-UNDO for local variables.</a:t>
            </a:r>
          </a:p>
          <a:p>
            <a:r>
              <a:t>Use LIKE for matching datatypes.</a:t>
            </a:r>
          </a:p>
          <a:p>
            <a:r>
              <a:t>Choose meaningful variable names.</a:t>
            </a:r>
          </a:p>
          <a:p>
            <a:r>
              <a:t>Use LABEL for clarity.</a:t>
            </a:r>
          </a:p>
          <a:p>
            <a:r>
              <a:t>Use EXTENT only for fixed-size arrays.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524</Words>
  <Application>Microsoft Office PowerPoint</Application>
  <PresentationFormat>On-screen Show (4:3)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Progress 4GL Basics</vt:lpstr>
      <vt:lpstr>Background: 3GL vs 4GL</vt:lpstr>
      <vt:lpstr>History of Progress 4GL</vt:lpstr>
      <vt:lpstr>Display Message Example</vt:lpstr>
      <vt:lpstr>Variable Declaration</vt:lpstr>
      <vt:lpstr>Common Data Types</vt:lpstr>
      <vt:lpstr>Default Initial Values</vt:lpstr>
      <vt:lpstr>Default Display Formats</vt:lpstr>
      <vt:lpstr>Datatype Example</vt:lpstr>
      <vt:lpstr>DEFINE VARIABLE Options</vt:lpstr>
      <vt:lpstr>Scope and Usage</vt:lpstr>
      <vt:lpstr>Example with Multiple Options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Shibaprasad Jena</cp:lastModifiedBy>
  <cp:revision>2</cp:revision>
  <dcterms:created xsi:type="dcterms:W3CDTF">2013-01-27T09:14:16Z</dcterms:created>
  <dcterms:modified xsi:type="dcterms:W3CDTF">2026-05-07T06:38:28Z</dcterms:modified>
  <cp:category/>
</cp:coreProperties>
</file>